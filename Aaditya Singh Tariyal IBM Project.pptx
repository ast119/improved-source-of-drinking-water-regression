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9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6" r:id="rId12"/>
    <p:sldId id="2146847058" r:id="rId13"/>
    <p:sldId id="2146847059" r:id="rId14"/>
    <p:sldId id="2146847057" r:id="rId15"/>
    <p:sldId id="2146847060" r:id="rId16"/>
    <p:sldId id="2146847061" r:id="rId17"/>
    <p:sldId id="2146847062" r:id="rId18"/>
    <p:sldId id="2146847063" r:id="rId19"/>
    <p:sldId id="2146847064" r:id="rId20"/>
    <p:sldId id="2146847065" r:id="rId21"/>
    <p:sldId id="2146847066" r:id="rId22"/>
    <p:sldId id="268" r:id="rId23"/>
    <p:sldId id="2146847067" r:id="rId24"/>
    <p:sldId id="2146847055" r:id="rId25"/>
    <p:sldId id="2146847068" r:id="rId26"/>
    <p:sldId id="269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0" d="100"/>
          <a:sy n="80" d="100"/>
        </p:scale>
        <p:origin x="6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https://aikosh.indiaai.gov.in/web/datasets/details/improved_source_of_drinking_water_multiple_indicator_survey_78th_round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T119/Improved-Source-of-Drinking-Water-Regression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/>
                <a:cs typeface="Arial"/>
              </a:rPr>
              <a:t>Improved source of drinking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Aaditya Singh Tariyal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Faculty name: Aman Srivastava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department-Haridwar University-CSE AI-ML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573" y="140938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 (Output Image)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Git-hub Link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IBM Certifications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r>
              <a:rPr lang="en-US" b="1" dirty="0"/>
              <a:t>Problem Statement:</a:t>
            </a:r>
          </a:p>
          <a:p>
            <a:r>
              <a:rPr lang="en-US" dirty="0"/>
              <a:t>Policymakers and researchers struggle to identify localized gaps in water security due to the complexity of the </a:t>
            </a:r>
            <a:r>
              <a:rPr lang="en-US" b="1" dirty="0"/>
              <a:t>NSS 78th Round (MIS)</a:t>
            </a:r>
            <a:r>
              <a:rPr lang="en-US" dirty="0"/>
              <a:t> data. Traditional analysis fails to account for how </a:t>
            </a:r>
            <a:r>
              <a:rPr lang="en-US" b="1" dirty="0"/>
              <a:t>migration patterns</a:t>
            </a:r>
            <a:r>
              <a:rPr lang="en-US" dirty="0"/>
              <a:t> and </a:t>
            </a:r>
            <a:r>
              <a:rPr lang="en-US" b="1" dirty="0"/>
              <a:t>clean energy shifts</a:t>
            </a:r>
            <a:r>
              <a:rPr lang="en-US" dirty="0"/>
              <a:t> (cooking fuel) create hidden inequalities in drinking water access, leading to inefficient resource allocation and stalled progress on </a:t>
            </a:r>
            <a:r>
              <a:rPr lang="en-US" b="1" dirty="0"/>
              <a:t>SDG 6</a:t>
            </a:r>
            <a:r>
              <a:rPr lang="en-US" dirty="0"/>
              <a:t>.</a:t>
            </a:r>
          </a:p>
          <a:p>
            <a:r>
              <a:rPr lang="en-US" b="1" dirty="0"/>
              <a:t>Proposed Solution:</a:t>
            </a:r>
          </a:p>
          <a:p>
            <a:r>
              <a:rPr lang="en-US" dirty="0"/>
              <a:t>A </a:t>
            </a:r>
            <a:r>
              <a:rPr lang="en-US" b="1" dirty="0"/>
              <a:t>Predictive Water Analytics Engine</a:t>
            </a:r>
            <a:r>
              <a:rPr lang="en-US" dirty="0"/>
              <a:t> built on </a:t>
            </a:r>
            <a:r>
              <a:rPr lang="en-US" b="1" dirty="0"/>
              <a:t>IBM watsonx.ai</a:t>
            </a:r>
            <a:r>
              <a:rPr lang="en-US" dirty="0"/>
              <a:t> that utilizes the </a:t>
            </a:r>
            <a:r>
              <a:rPr lang="en-US" b="1" dirty="0" err="1"/>
              <a:t>SnapBoostingMachineRegressor</a:t>
            </a:r>
            <a:r>
              <a:rPr lang="en-US" dirty="0"/>
              <a:t> (Snap ML). This high-performance model integrates socio-economic indicators and migration trends to predict water scarcity clusters with 10x faster processing than standard ML. The solution provides a real-time dashboard for "what-if" policy simulations, enabling targeted infrastructure interventions for India’s most vulnerable regions.</a:t>
            </a:r>
          </a:p>
          <a:p>
            <a:pPr marL="305435" indent="-305435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IN" sz="1200" b="1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96AA9D0-E681-4A35-8A0C-762CE8ED6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1232452"/>
            <a:ext cx="11169137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Proposed Solution: Predictive Water Security Framework</a:t>
            </a:r>
            <a:endParaRPr kumimoji="0" lang="en-US" altLang="en-US" sz="25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 </a:t>
            </a: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Collection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Primary Source: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hlinkClick r:id="rId2"/>
              </a:rPr>
              <a:t>AI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hlinkClick r:id="rId2"/>
              </a:rPr>
              <a:t>Kosh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hlinkClick r:id="rId2"/>
              </a:rPr>
              <a:t> /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hlinkClick r:id="rId2"/>
              </a:rPr>
              <a:t>IndiaAI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hlinkClick r:id="rId2"/>
              </a:rPr>
              <a:t> Dataset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Indicators: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Access to improved sources (piped, tube well), distance to source, availability of clean cooking fuel (LPG/PNG), and migration history (rural-to-urban shifts).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Ingestion: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 is pulled into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watsonx.ai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via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ibm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watson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-machine-learning API, ensuring secure handling of large-scale survey microdata.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2.</a:t>
            </a: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Preprocessing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Feature Engineering: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Conversion of categorical survey codes into numerical vectors; calculating a "Water Accessibility Index" by weighting source type and distance.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Handling Sparsity: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 of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watsonx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automatically handle missing values and perform feature selection, identifying high correlation between clean cooking fuel usage and water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Scaling: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Normalization of socio-economic variables to ensure unbiased model convergence.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3. </a:t>
            </a: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ML Algorithm: </a:t>
            </a:r>
            <a:r>
              <a:rPr kumimoji="0" lang="en-US" altLang="en-US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SnapBoostingMachineRegressor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Engine: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Implementation of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Snap 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library’s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SnapBoostingMachineRegressor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Optimization: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Utilizes GPU-accelerated training to process the MIS dataset’s hundreds of thousands of household entries in seconds.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Hybrid Learning: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model combines gradient boosting trees with linear solvers, allowing it to capture both sudden disparities (geographic) and gradual trends (migration impacts).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4. </a:t>
            </a: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Evaluation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Metrics: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Root Mean Squared Error (RMSE) for accessibility scores and R-squared ($R^2$) to determine the variance explained by socio-economic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Cross-Validation: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K-fold validation to ensure the model generalizes across different Indian states with varying topographies.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Explainability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 of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SHAP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within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watsonx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provide "Global Feature Importance," showing policymakers exactly why certain regions are falling behind.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5. </a:t>
            </a: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Deployment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Runtime: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Deployed as a scalable REST API 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IBM Cloud (WML)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AutoAI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-generated Experiment Notebook.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Interface: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Integration with a "Policy Simulator" dashboard where users can adjust migration or fuel-subsidy variables to predict future water accessibility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FABC7B-D1EF-4772-8824-BCE727E3D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007201"/>
            <a:ext cx="804989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IBM watsonx.ai Runtime / Cloud Pak for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3.10+, 16GB RAM, GPU-enabled environment for Snap ML acceleration.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Access: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IBM Cloud API Key and Watson Machine Learning (WML) service instance.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Data: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NSS 78th Round MIS Dataset (CSV/Parquet) from AI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Kosh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&amp; Technical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Engine: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snapml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SnapBoostingMachineRegressor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for ultra-fast training.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AutoAI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autoai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-libs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lale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automated pipeline refinement.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Ecosystem: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ibm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watson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-machine-learning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model lifecycle management.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scikit-learn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preprocessing and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Ingestion: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data loading via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WML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API.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Transformation: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Auto-feature engineering for water/fuel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Modeling: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the Snap ML Regressor on household survey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Persisting the pipeline as a REST API via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watsonx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Experiment Notebook.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F677FB-E774-4205-B3DA-4C6F82F0AE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51367"/>
            <a:ext cx="11163768" cy="5001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Algorithm Selection: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SnapBoostingMachineRegressor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Overview: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high-performance boosting framework within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Snap ML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library, optimized for massive datasets and multi-threaded CPU/GPU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Justification: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Unlike standard regressors, Snap ML captures non-linear socio-economic patterns in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NSS 78th Round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(276k+ records) with up to 10x faster training, making it ideal for the high-cardinality features of Indian survey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Input</a:t>
            </a: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Core Features: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Primary source of drinking water, distance to source, and household location (Rural/Urban).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Correlative Features: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Type of cooking fuel (LPG/Biomass), migration status (rural-to-urban shifts), and household social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Target: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Water Accessibility Index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(calculated composite score).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 &amp; Prediction Process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Executed via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watsonx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AutoAI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using $k$-fold cross-validation and automated hyperparameter optimization to minimize RMSE.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model processes new household survey inputs to predict water security gaps. It uses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heterogeneous ensemble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approach, blending trees with linear solvers for maximum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Deployment on watsonx.ai</a:t>
            </a:r>
            <a:endParaRPr kumimoji="0" lang="en-US" altLang="en-US" sz="1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Hosting: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model is persisted into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Watson Machine Learning (WML) Deployment Space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Integration: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Deployed as an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Online REST API Endpoint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allowing external dashboards to send household data and receive real-time water security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Monitoring: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watsonx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"Evaluate" features to track model drift and fairness across different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PROCESS PHASE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8A5084-FE9F-4132-BC34-1E6D93E7F08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731" y="1301750"/>
            <a:ext cx="9250537" cy="467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F4538E-2477-43E1-BBB5-70CF49C1F6DD}"/>
              </a:ext>
            </a:extLst>
          </p:cNvPr>
          <p:cNvSpPr/>
          <p:nvPr/>
        </p:nvSpPr>
        <p:spPr>
          <a:xfrm>
            <a:off x="6276975" y="3105150"/>
            <a:ext cx="3171825" cy="97155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9FF61D-301E-4E82-9EA3-82D8F0CF9C43}"/>
              </a:ext>
            </a:extLst>
          </p:cNvPr>
          <p:cNvCxnSpPr>
            <a:endCxn id="2" idx="0"/>
          </p:cNvCxnSpPr>
          <p:nvPr/>
        </p:nvCxnSpPr>
        <p:spPr>
          <a:xfrm>
            <a:off x="7858125" y="2447925"/>
            <a:ext cx="4763" cy="6572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E3CC8EC-4A7E-48EC-B463-70CBDC7C8DF6}"/>
              </a:ext>
            </a:extLst>
          </p:cNvPr>
          <p:cNvSpPr txBox="1"/>
          <p:nvPr/>
        </p:nvSpPr>
        <p:spPr>
          <a:xfrm>
            <a:off x="6238874" y="2066925"/>
            <a:ext cx="3914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u="sng" dirty="0">
                <a:solidFill>
                  <a:srgbClr val="7030A0"/>
                </a:solidFill>
              </a:rPr>
              <a:t>Specifying runtime instance 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PROCESS PHASE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1452E1-173C-4882-8BB9-AF58E4774CB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44320"/>
            <a:ext cx="10696408" cy="4611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91333F-7219-4E58-B46B-D2A4443D4154}"/>
              </a:ext>
            </a:extLst>
          </p:cNvPr>
          <p:cNvSpPr/>
          <p:nvPr/>
        </p:nvSpPr>
        <p:spPr>
          <a:xfrm>
            <a:off x="914400" y="3810000"/>
            <a:ext cx="3543300" cy="61912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975D37-FF01-4073-B621-3D671DECDF93}"/>
              </a:ext>
            </a:extLst>
          </p:cNvPr>
          <p:cNvCxnSpPr/>
          <p:nvPr/>
        </p:nvCxnSpPr>
        <p:spPr>
          <a:xfrm flipV="1">
            <a:off x="2695575" y="4267200"/>
            <a:ext cx="0" cy="63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18E990-B98F-49BA-BB07-123643AC07F2}"/>
              </a:ext>
            </a:extLst>
          </p:cNvPr>
          <p:cNvSpPr txBox="1"/>
          <p:nvPr/>
        </p:nvSpPr>
        <p:spPr>
          <a:xfrm>
            <a:off x="981075" y="5010150"/>
            <a:ext cx="3543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u="sng" dirty="0">
                <a:solidFill>
                  <a:srgbClr val="7030A0"/>
                </a:solidFill>
              </a:rPr>
              <a:t>Dataset for our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528352-EFCF-44D6-B55C-979ADCA4DB98}"/>
              </a:ext>
            </a:extLst>
          </p:cNvPr>
          <p:cNvSpPr/>
          <p:nvPr/>
        </p:nvSpPr>
        <p:spPr>
          <a:xfrm>
            <a:off x="5029200" y="3333750"/>
            <a:ext cx="4619625" cy="7524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F78C84-C078-4D13-9E9D-9EA9BFD10EF5}"/>
              </a:ext>
            </a:extLst>
          </p:cNvPr>
          <p:cNvCxnSpPr/>
          <p:nvPr/>
        </p:nvCxnSpPr>
        <p:spPr>
          <a:xfrm>
            <a:off x="7296150" y="2581275"/>
            <a:ext cx="0" cy="1104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CA6703F-BC03-42CE-A523-A242CBDC20E8}"/>
              </a:ext>
            </a:extLst>
          </p:cNvPr>
          <p:cNvSpPr txBox="1"/>
          <p:nvPr/>
        </p:nvSpPr>
        <p:spPr>
          <a:xfrm>
            <a:off x="4876800" y="2269407"/>
            <a:ext cx="483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u="sng" dirty="0">
                <a:solidFill>
                  <a:srgbClr val="7030A0"/>
                </a:solidFill>
              </a:rPr>
              <a:t>feature model will predict</a:t>
            </a:r>
          </a:p>
        </p:txBody>
      </p:sp>
    </p:spTree>
    <p:extLst>
      <p:ext uri="{BB962C8B-B14F-4D97-AF65-F5344CB8AC3E}">
        <p14:creationId xmlns:p14="http://schemas.microsoft.com/office/powerpoint/2010/main" val="322315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PROCESS PHASE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C7B3-F114-4A0C-BD41-7D5E4749B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D516B-88E4-486C-85EE-82ED7E53A6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1193" y="1311551"/>
            <a:ext cx="11029614" cy="49666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93D349-0BA3-405A-A534-99E8CD6BB7A9}"/>
              </a:ext>
            </a:extLst>
          </p:cNvPr>
          <p:cNvSpPr/>
          <p:nvPr/>
        </p:nvSpPr>
        <p:spPr>
          <a:xfrm>
            <a:off x="3209925" y="3343275"/>
            <a:ext cx="4410075" cy="990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DD24D1-540A-4A9D-A5FF-ABB7CEB74BE3}"/>
              </a:ext>
            </a:extLst>
          </p:cNvPr>
          <p:cNvCxnSpPr/>
          <p:nvPr/>
        </p:nvCxnSpPr>
        <p:spPr>
          <a:xfrm flipV="1">
            <a:off x="5391150" y="4219575"/>
            <a:ext cx="0" cy="48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1CA02D-EE52-47DD-AC19-E60134042417}"/>
              </a:ext>
            </a:extLst>
          </p:cNvPr>
          <p:cNvSpPr txBox="1"/>
          <p:nvPr/>
        </p:nvSpPr>
        <p:spPr>
          <a:xfrm>
            <a:off x="3276600" y="4705350"/>
            <a:ext cx="4610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u="sng" dirty="0">
                <a:solidFill>
                  <a:srgbClr val="7030A0"/>
                </a:solidFill>
              </a:rPr>
              <a:t>Phases dataset goes through over WATSONX</a:t>
            </a:r>
          </a:p>
        </p:txBody>
      </p:sp>
    </p:spTree>
    <p:extLst>
      <p:ext uri="{BB962C8B-B14F-4D97-AF65-F5344CB8AC3E}">
        <p14:creationId xmlns:p14="http://schemas.microsoft.com/office/powerpoint/2010/main" val="191461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PROCESS PHASE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19AE30-3BD8-45D9-AECE-272DAC4A132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720" y="1301750"/>
            <a:ext cx="11029615" cy="516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73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18F0C1-EF1E-4D38-9EC8-9750293AF0A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18"/>
          <a:stretch/>
        </p:blipFill>
        <p:spPr bwMode="auto">
          <a:xfrm>
            <a:off x="581192" y="1341120"/>
            <a:ext cx="11153608" cy="46310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C994EF7-9AEA-4169-9205-95D5D5E53755}"/>
              </a:ext>
            </a:extLst>
          </p:cNvPr>
          <p:cNvSpPr/>
          <p:nvPr/>
        </p:nvSpPr>
        <p:spPr>
          <a:xfrm>
            <a:off x="4752975" y="2857500"/>
            <a:ext cx="4562475" cy="19907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EE8BE4-4F93-436B-9601-5D2F27E7BFA4}"/>
              </a:ext>
            </a:extLst>
          </p:cNvPr>
          <p:cNvCxnSpPr/>
          <p:nvPr/>
        </p:nvCxnSpPr>
        <p:spPr>
          <a:xfrm flipV="1">
            <a:off x="7019925" y="4629150"/>
            <a:ext cx="0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6AA84C-79F9-4EDC-A0DD-1B4CACB0863F}"/>
              </a:ext>
            </a:extLst>
          </p:cNvPr>
          <p:cNvSpPr txBox="1"/>
          <p:nvPr/>
        </p:nvSpPr>
        <p:spPr>
          <a:xfrm>
            <a:off x="4752975" y="5219700"/>
            <a:ext cx="4562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u="sng" dirty="0">
                <a:solidFill>
                  <a:srgbClr val="7030A0"/>
                </a:solidFill>
              </a:rPr>
              <a:t>ML Algorithms implemented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4923E6F-CC07-414C-A4A8-97E3285C406C}"/>
              </a:ext>
            </a:extLst>
          </p:cNvPr>
          <p:cNvCxnSpPr/>
          <p:nvPr/>
        </p:nvCxnSpPr>
        <p:spPr>
          <a:xfrm>
            <a:off x="7086600" y="2638425"/>
            <a:ext cx="1771650" cy="495300"/>
          </a:xfrm>
          <a:prstGeom prst="bentConnector3">
            <a:avLst/>
          </a:prstGeom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7747252-523E-4FAD-A484-57F896001E4F}"/>
              </a:ext>
            </a:extLst>
          </p:cNvPr>
          <p:cNvSpPr txBox="1"/>
          <p:nvPr/>
        </p:nvSpPr>
        <p:spPr>
          <a:xfrm>
            <a:off x="4981658" y="2486025"/>
            <a:ext cx="2352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92D050"/>
                </a:solidFill>
              </a:rPr>
              <a:t>Most Optimal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70131C-CA5A-4B47-BDB1-398CC2F5724A}"/>
              </a:ext>
            </a:extLst>
          </p:cNvPr>
          <p:cNvSpPr/>
          <p:nvPr/>
        </p:nvSpPr>
        <p:spPr>
          <a:xfrm>
            <a:off x="8829675" y="2964025"/>
            <a:ext cx="485775" cy="35067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635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28C35D-F0E6-4DBE-829F-34E053CCB4A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1232452"/>
            <a:ext cx="11029616" cy="51175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9352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F9BFF9-BCA4-4B8B-8FE6-1A5E205D55A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41674" b="1559"/>
          <a:stretch/>
        </p:blipFill>
        <p:spPr>
          <a:xfrm>
            <a:off x="1407719" y="1859280"/>
            <a:ext cx="9376562" cy="2653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DDEA67-74F3-4C40-BAC0-1B770F12AFBF}"/>
              </a:ext>
            </a:extLst>
          </p:cNvPr>
          <p:cNvSpPr txBox="1"/>
          <p:nvPr/>
        </p:nvSpPr>
        <p:spPr>
          <a:xfrm>
            <a:off x="1407719" y="4866640"/>
            <a:ext cx="9376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Snap Boosting Machine Regressor</a:t>
            </a:r>
            <a:r>
              <a:rPr lang="en-US" dirty="0"/>
              <a:t> achieved a top-tier </a:t>
            </a:r>
            <a:r>
              <a:rPr lang="en-US" b="1" dirty="0"/>
              <a:t>RMSE of 4.391</a:t>
            </a:r>
            <a:r>
              <a:rPr lang="en-US" dirty="0"/>
              <a:t> for predicting improved water sources. </a:t>
            </a:r>
            <a:r>
              <a:rPr lang="en-US" b="1" dirty="0"/>
              <a:t>Pipeline 5</a:t>
            </a:r>
            <a:r>
              <a:rPr lang="en-US" dirty="0"/>
              <a:t> emerged as the best-performing model by utilizing a batched tree ensemble with hyperparameter optimization and feature engineering.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0E5E99-3DE2-42BF-ABC0-766D4C95B4F8}"/>
              </a:ext>
            </a:extLst>
          </p:cNvPr>
          <p:cNvSpPr/>
          <p:nvPr/>
        </p:nvSpPr>
        <p:spPr>
          <a:xfrm>
            <a:off x="514350" y="2752725"/>
            <a:ext cx="10925175" cy="29527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37BD3F-256E-4899-B11C-61ADF73FBC30}"/>
              </a:ext>
            </a:extLst>
          </p:cNvPr>
          <p:cNvCxnSpPr/>
          <p:nvPr/>
        </p:nvCxnSpPr>
        <p:spPr>
          <a:xfrm>
            <a:off x="914400" y="1552575"/>
            <a:ext cx="0" cy="120015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23C1954-B5F2-48E1-926D-6C44EB4BEB8D}"/>
              </a:ext>
            </a:extLst>
          </p:cNvPr>
          <p:cNvCxnSpPr/>
          <p:nvPr/>
        </p:nvCxnSpPr>
        <p:spPr>
          <a:xfrm flipH="1">
            <a:off x="914400" y="1552575"/>
            <a:ext cx="1933575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E6ECD5-2F65-484F-A561-0C1215B76AF2}"/>
              </a:ext>
            </a:extLst>
          </p:cNvPr>
          <p:cNvSpPr txBox="1"/>
          <p:nvPr/>
        </p:nvSpPr>
        <p:spPr>
          <a:xfrm>
            <a:off x="2695575" y="1354490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u="sng" dirty="0">
                <a:solidFill>
                  <a:srgbClr val="92D050"/>
                </a:solidFill>
              </a:rPr>
              <a:t>Best Performing Model</a:t>
            </a:r>
          </a:p>
        </p:txBody>
      </p:sp>
    </p:spTree>
    <p:extLst>
      <p:ext uri="{BB962C8B-B14F-4D97-AF65-F5344CB8AC3E}">
        <p14:creationId xmlns:p14="http://schemas.microsoft.com/office/powerpoint/2010/main" val="3856524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Deployment Phase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630A78-C8C8-4831-8FA5-9DF2F45EDE0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560" y="1301750"/>
            <a:ext cx="11029616" cy="50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Deployment Phase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759848-B049-41DD-9FA8-326198460A6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301750"/>
            <a:ext cx="11194248" cy="507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9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Deployment Phase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0C4ED0-CADF-4068-83E9-1399B5E8AC6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77245" t="843" b="74375"/>
          <a:stretch/>
        </p:blipFill>
        <p:spPr>
          <a:xfrm>
            <a:off x="8839200" y="1605280"/>
            <a:ext cx="2529840" cy="1239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8B454D-0D4E-4A55-8F9A-CFE5289BCDF7}"/>
              </a:ext>
            </a:extLst>
          </p:cNvPr>
          <p:cNvPicPr/>
          <p:nvPr/>
        </p:nvPicPr>
        <p:blipFill rotWithShape="1">
          <a:blip r:embed="rId2"/>
          <a:srcRect t="21767" b="60782"/>
          <a:stretch/>
        </p:blipFill>
        <p:spPr>
          <a:xfrm>
            <a:off x="696595" y="1686560"/>
            <a:ext cx="7949565" cy="1158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EB5529-29EA-45AA-8F65-FADA136BB284}"/>
              </a:ext>
            </a:extLst>
          </p:cNvPr>
          <p:cNvSpPr txBox="1"/>
          <p:nvPr/>
        </p:nvSpPr>
        <p:spPr>
          <a:xfrm>
            <a:off x="696595" y="3322320"/>
            <a:ext cx="10672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model was successfully promoted from the </a:t>
            </a:r>
            <a:r>
              <a:rPr lang="en-US" b="1"/>
              <a:t>AutoAI project</a:t>
            </a:r>
            <a:r>
              <a:rPr lang="en-US"/>
              <a:t> and deployed as an </a:t>
            </a:r>
            <a:r>
              <a:rPr lang="en-US" b="1"/>
              <a:t>Online Deployment</a:t>
            </a:r>
            <a:r>
              <a:rPr lang="en-US"/>
              <a:t> within the specified deployment space. This generated a dedicated </a:t>
            </a:r>
            <a:r>
              <a:rPr lang="en-US" b="1"/>
              <a:t>REST endpoint</a:t>
            </a:r>
            <a:r>
              <a:rPr lang="en-US"/>
              <a:t>, enabling real-time scoring and integration into external applications via the watsonx.ai Runtime.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5612CF-02E4-458F-A4F8-C30F1467BEFF}"/>
              </a:ext>
            </a:extLst>
          </p:cNvPr>
          <p:cNvSpPr/>
          <p:nvPr/>
        </p:nvSpPr>
        <p:spPr>
          <a:xfrm>
            <a:off x="476250" y="2076450"/>
            <a:ext cx="6467475" cy="5302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7646AE3-16B8-4A41-9B2E-2477EE4603EC}"/>
              </a:ext>
            </a:extLst>
          </p:cNvPr>
          <p:cNvCxnSpPr/>
          <p:nvPr/>
        </p:nvCxnSpPr>
        <p:spPr>
          <a:xfrm flipV="1">
            <a:off x="3705225" y="2476500"/>
            <a:ext cx="0" cy="36830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3B5B32-B30E-42DD-9E41-23C2B97586C5}"/>
              </a:ext>
            </a:extLst>
          </p:cNvPr>
          <p:cNvSpPr txBox="1"/>
          <p:nvPr/>
        </p:nvSpPr>
        <p:spPr>
          <a:xfrm>
            <a:off x="2600325" y="2803525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u="sng" dirty="0">
                <a:solidFill>
                  <a:srgbClr val="92D050"/>
                </a:solidFill>
              </a:rPr>
              <a:t>Deployment Successful</a:t>
            </a:r>
          </a:p>
        </p:txBody>
      </p:sp>
    </p:spTree>
    <p:extLst>
      <p:ext uri="{BB962C8B-B14F-4D97-AF65-F5344CB8AC3E}">
        <p14:creationId xmlns:p14="http://schemas.microsoft.com/office/powerpoint/2010/main" val="88590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Testing Model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8064B5-D0CF-42CF-B280-07A898190B7B}"/>
              </a:ext>
            </a:extLst>
          </p:cNvPr>
          <p:cNvPicPr/>
          <p:nvPr/>
        </p:nvPicPr>
        <p:blipFill rotWithShape="1">
          <a:blip r:embed="rId2"/>
          <a:srcRect t="30878" b="5887"/>
          <a:stretch/>
        </p:blipFill>
        <p:spPr>
          <a:xfrm>
            <a:off x="423862" y="1314450"/>
            <a:ext cx="11344275" cy="31718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FE75357-9ABE-46A9-951B-11A542F64E6B}"/>
              </a:ext>
            </a:extLst>
          </p:cNvPr>
          <p:cNvSpPr/>
          <p:nvPr/>
        </p:nvSpPr>
        <p:spPr>
          <a:xfrm>
            <a:off x="1238250" y="2743200"/>
            <a:ext cx="9915525" cy="9429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5764ED-F66A-46B5-A9C7-D791ED6C6A96}"/>
              </a:ext>
            </a:extLst>
          </p:cNvPr>
          <p:cNvCxnSpPr>
            <a:endCxn id="13" idx="2"/>
          </p:cNvCxnSpPr>
          <p:nvPr/>
        </p:nvCxnSpPr>
        <p:spPr>
          <a:xfrm flipV="1">
            <a:off x="6191250" y="3686175"/>
            <a:ext cx="4763" cy="1285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E3B652-CCF6-4AE7-8C0D-EB53F6A086E4}"/>
              </a:ext>
            </a:extLst>
          </p:cNvPr>
          <p:cNvSpPr txBox="1"/>
          <p:nvPr/>
        </p:nvSpPr>
        <p:spPr>
          <a:xfrm>
            <a:off x="3105150" y="4969907"/>
            <a:ext cx="8143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u="sng" dirty="0">
                <a:solidFill>
                  <a:srgbClr val="00B0F0"/>
                </a:solidFill>
              </a:rPr>
              <a:t>Data Input entered to test and predict over trained model</a:t>
            </a:r>
          </a:p>
        </p:txBody>
      </p:sp>
    </p:spTree>
    <p:extLst>
      <p:ext uri="{BB962C8B-B14F-4D97-AF65-F5344CB8AC3E}">
        <p14:creationId xmlns:p14="http://schemas.microsoft.com/office/powerpoint/2010/main" val="1024003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Testing Model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EC15B-5F1F-4186-9832-DC7C3A115C8D}"/>
              </a:ext>
            </a:extLst>
          </p:cNvPr>
          <p:cNvPicPr/>
          <p:nvPr/>
        </p:nvPicPr>
        <p:blipFill rotWithShape="1">
          <a:blip r:embed="rId2"/>
          <a:srcRect l="4309" t="11733" r="3252" b="15525"/>
          <a:stretch/>
        </p:blipFill>
        <p:spPr>
          <a:xfrm>
            <a:off x="581192" y="1533525"/>
            <a:ext cx="8019883" cy="40100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957A2E-7E3A-4867-A01F-E4CBB1FA56FE}"/>
              </a:ext>
            </a:extLst>
          </p:cNvPr>
          <p:cNvSpPr/>
          <p:nvPr/>
        </p:nvSpPr>
        <p:spPr>
          <a:xfrm>
            <a:off x="3314700" y="2619375"/>
            <a:ext cx="1152525" cy="11049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429B49F-8652-4FFB-81F8-35D5C728D04D}"/>
              </a:ext>
            </a:extLst>
          </p:cNvPr>
          <p:cNvCxnSpPr/>
          <p:nvPr/>
        </p:nvCxnSpPr>
        <p:spPr>
          <a:xfrm flipH="1">
            <a:off x="4467225" y="2990850"/>
            <a:ext cx="4533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7B19CF2-403C-4DBC-BB11-B484410AF450}"/>
              </a:ext>
            </a:extLst>
          </p:cNvPr>
          <p:cNvSpPr txBox="1"/>
          <p:nvPr/>
        </p:nvSpPr>
        <p:spPr>
          <a:xfrm>
            <a:off x="9001125" y="2619375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Prediction made over inserted data values by the best performing model</a:t>
            </a:r>
          </a:p>
        </p:txBody>
      </p:sp>
    </p:spTree>
    <p:extLst>
      <p:ext uri="{BB962C8B-B14F-4D97-AF65-F5344CB8AC3E}">
        <p14:creationId xmlns:p14="http://schemas.microsoft.com/office/powerpoint/2010/main" val="1403686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Snap Boosting Machine Regressor</a:t>
            </a:r>
            <a:r>
              <a:rPr lang="en-US" sz="2000" dirty="0"/>
              <a:t> achieved high predictive accuracy with an </a:t>
            </a:r>
            <a:r>
              <a:rPr lang="en-US" sz="2000" b="1" dirty="0"/>
              <a:t>RMSE of 4.391</a:t>
            </a:r>
            <a:r>
              <a:rPr lang="en-US" sz="2000" dirty="0"/>
              <a:t>, proving that </a:t>
            </a:r>
            <a:r>
              <a:rPr lang="en-US" sz="2000" dirty="0" err="1"/>
              <a:t>AutoAI’s</a:t>
            </a:r>
            <a:r>
              <a:rPr lang="en-US" sz="2000" dirty="0"/>
              <a:t> automated feature engineering and hyperparameter optimization significantly enhance model performance for water source analysis.</a:t>
            </a:r>
          </a:p>
          <a:p>
            <a:r>
              <a:rPr lang="en-US" sz="2000" dirty="0"/>
              <a:t>By successfully transitioning from the project environment to a </a:t>
            </a:r>
            <a:r>
              <a:rPr lang="en-US" sz="2000" b="1" dirty="0" err="1"/>
              <a:t>watsonx</a:t>
            </a:r>
            <a:r>
              <a:rPr lang="en-US" sz="2000" b="1" dirty="0"/>
              <a:t> deployment space</a:t>
            </a:r>
            <a:r>
              <a:rPr lang="en-US" sz="2000" dirty="0"/>
              <a:t>, the model is now available via a </a:t>
            </a:r>
            <a:r>
              <a:rPr lang="en-US" sz="2000" b="1" dirty="0"/>
              <a:t>REST endpoint</a:t>
            </a:r>
            <a:r>
              <a:rPr lang="en-US" sz="2000" dirty="0"/>
              <a:t>, ready for seamless real-time integration and scalable decision-making.</a:t>
            </a:r>
          </a:p>
          <a:p>
            <a:pPr marL="305435" indent="-305435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 err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Github</a:t>
            </a:r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 link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65F4A-661E-4CA8-BB14-03183CD26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https://github.com/AST119/Improved-Source-of-Drinking-Water-Regression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268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1D383E-4CD7-4405-8763-3C9611F02D04}"/>
              </a:ext>
            </a:extLst>
          </p:cNvPr>
          <p:cNvSpPr txBox="1"/>
          <p:nvPr/>
        </p:nvSpPr>
        <p:spPr>
          <a:xfrm>
            <a:off x="535670" y="1561415"/>
            <a:ext cx="1123578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Real-Time Data Integration:</a:t>
            </a:r>
            <a:r>
              <a:rPr lang="en-US" sz="2200" dirty="0"/>
              <a:t> Incorporate live IoT sensor data and satellite imagery to transition from static survey analysis to real-time water quality and availability monitoring.</a:t>
            </a:r>
          </a:p>
          <a:p>
            <a:endParaRPr lang="en-US" sz="2200" dirty="0"/>
          </a:p>
          <a:p>
            <a:r>
              <a:rPr lang="en-US" sz="2200" b="1" dirty="0"/>
              <a:t>Cross-Indicator Analysis:</a:t>
            </a:r>
            <a:r>
              <a:rPr lang="en-US" sz="2200" dirty="0"/>
              <a:t> Use the MIS 78th Round data to model the hidden correlations between water scarcity, migration patterns, and clean fuel adoption.</a:t>
            </a:r>
          </a:p>
          <a:p>
            <a:endParaRPr lang="en-US" sz="2200" dirty="0"/>
          </a:p>
          <a:p>
            <a:r>
              <a:rPr lang="en-IN" sz="2200" b="1" dirty="0"/>
              <a:t>Geospatial Hotspot Mapping:</a:t>
            </a:r>
            <a:r>
              <a:rPr lang="en-IN" sz="2200" dirty="0"/>
              <a:t> Implement GIS visualization to identify specific regional "dark zones," enabling hyper-localized infrastructure planning.</a:t>
            </a:r>
          </a:p>
          <a:p>
            <a:endParaRPr lang="en-US" sz="2200" dirty="0"/>
          </a:p>
          <a:p>
            <a:r>
              <a:rPr lang="en-US" sz="2200" b="1" dirty="0"/>
              <a:t>Predictive Policy Simulators:</a:t>
            </a:r>
            <a:r>
              <a:rPr lang="en-US" sz="2200" dirty="0"/>
              <a:t> Develop "what-if" dashboards on </a:t>
            </a:r>
            <a:r>
              <a:rPr lang="en-US" sz="2200" dirty="0" err="1"/>
              <a:t>watsonx</a:t>
            </a:r>
            <a:r>
              <a:rPr lang="en-US" sz="2200" dirty="0"/>
              <a:t> to help officials forecast the impact of specific budget allocations on SDG targets.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 err="1">
                <a:solidFill>
                  <a:schemeClr val="accent1"/>
                </a:solidFill>
                <a:latin typeface="Arial"/>
                <a:cs typeface="Arial"/>
              </a:rPr>
              <a:t>Ibm</a:t>
            </a:r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 certifications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EAA7F8-26E8-468D-89D6-50568172C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1509713"/>
            <a:ext cx="6191250" cy="478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76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8469548-F30C-4B06-B6DC-BA9F02BA0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867" y="1232452"/>
            <a:ext cx="1102961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Sample Survey Office (NSSO):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Indicator Survey (MIS), 78th Round, Ministry of Statistics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Implementation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MoSPI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Government of India.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United Nations SDG Indicators: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Metadata and monitoring frameworks for Goal 6 (Clean Water and Sanitation) and Goal 7 (Affordable and Clean Energy).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watsonx.ai Documentation: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Technical guides for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AutoAI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Snap Boosting Machine Regressor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(Snap ML), and Hyperparameter Optimization (HPO)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Snap ML Research: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“Snap Machine Learning”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Research papers detailing the high-performance ensemble methods used in the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SnapBoost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Sustainable Development Goals (SDG) India Index: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Reports by NITI Aayog on regional disparities and water accessibility benchmarks across Indian states.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107</TotalTime>
  <Words>1396</Words>
  <Application>Microsoft Office PowerPoint</Application>
  <PresentationFormat>Widescreen</PresentationFormat>
  <Paragraphs>134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Arial Unicode MS</vt:lpstr>
      <vt:lpstr>Calibri</vt:lpstr>
      <vt:lpstr>Calibri Light</vt:lpstr>
      <vt:lpstr>Franklin Gothic Book</vt:lpstr>
      <vt:lpstr>Franklin Gothic Demi</vt:lpstr>
      <vt:lpstr>Google Sans</vt:lpstr>
      <vt:lpstr>Google Sans Text</vt:lpstr>
      <vt:lpstr>Wingdings 2</vt:lpstr>
      <vt:lpstr>DividendVTI</vt:lpstr>
      <vt:lpstr>Improved source of drinking water</vt:lpstr>
      <vt:lpstr>OUTLINE</vt:lpstr>
      <vt:lpstr>Problem Statement</vt:lpstr>
      <vt:lpstr>Proposed Solution</vt:lpstr>
      <vt:lpstr>System  Approach</vt:lpstr>
      <vt:lpstr>Algorithm &amp; Deployment</vt:lpstr>
      <vt:lpstr>PROCESS PHASE</vt:lpstr>
      <vt:lpstr>PROCESS PHASE</vt:lpstr>
      <vt:lpstr>PROCESS PHASE</vt:lpstr>
      <vt:lpstr>PROCESS PHASE</vt:lpstr>
      <vt:lpstr>Result</vt:lpstr>
      <vt:lpstr>Result</vt:lpstr>
      <vt:lpstr>Result</vt:lpstr>
      <vt:lpstr>Deployment Phase</vt:lpstr>
      <vt:lpstr>Deployment Phase</vt:lpstr>
      <vt:lpstr>Deployment Phase</vt:lpstr>
      <vt:lpstr>Testing Model</vt:lpstr>
      <vt:lpstr>Testing Model</vt:lpstr>
      <vt:lpstr>Conclusion</vt:lpstr>
      <vt:lpstr>Github link</vt:lpstr>
      <vt:lpstr>PowerPoint Presentation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Aaditya</cp:lastModifiedBy>
  <cp:revision>42</cp:revision>
  <dcterms:created xsi:type="dcterms:W3CDTF">2021-05-26T16:50:10Z</dcterms:created>
  <dcterms:modified xsi:type="dcterms:W3CDTF">2026-02-07T09:56:42Z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